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5" r:id="rId9"/>
    <p:sldId id="263"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52" y="1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0B22B-2329-8AFA-3B7F-DAFCA24B2D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1C3C9D-9928-CE5B-0647-253FC14A80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08CA10-5E3E-18F2-F8B4-BBA8D695E95F}"/>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A1ABFD6C-0BEC-9C1C-D98B-8FD1D8E590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D59BA-7706-1F3A-4F35-D4D98FC78836}"/>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3050800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49E3C-3BD7-75E9-DAE5-0C11E4812F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F6646F-CFB7-966D-8BDE-EAC9EE6067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BEE579-A09B-F805-EA2C-FC382359D7F7}"/>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3F67BD9B-3262-34C4-404B-F26AD14B8F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A92C70-EF9B-3B0D-3ACE-C72F9F09B483}"/>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2157886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DD41-7E51-6B84-5FBC-3C2BB398A6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414CA4-F212-A2C1-4EDA-37ED6B7722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A281D-7EF4-2CDD-229C-322A5C6E909B}"/>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457083F4-B064-81CA-E71A-A1704F6A90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11C34-B766-5817-32CE-D347E7B73C70}"/>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1080565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E6A50-C17A-7E38-5D96-9A199E2BCD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D9543F-6170-02C4-ADFC-C1D11003F9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6D999B-399C-73A1-1598-E56CEBBCF4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D8FB432-C13D-8373-760A-62CF2AB3E867}"/>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6" name="Footer Placeholder 5">
            <a:extLst>
              <a:ext uri="{FF2B5EF4-FFF2-40B4-BE49-F238E27FC236}">
                <a16:creationId xmlns:a16="http://schemas.microsoft.com/office/drawing/2014/main" id="{B8639679-F751-387F-E9FA-14A933E5B3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0ED99B-25F1-EA0F-70AE-592D4FDC77E1}"/>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2161633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E7C0C-6FCE-7136-8144-FA8D16D4740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54D380-9A90-370F-8C9D-5840832095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A2742A-AC26-6F4F-1326-0C42BE16C1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C255B6-DB07-8450-F998-452E69FF30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65ABE3-D6D7-5B46-2564-7FAAF1471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1B5AF5-AB7E-75DD-1D8C-55C5F5B9FBC9}"/>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8" name="Footer Placeholder 7">
            <a:extLst>
              <a:ext uri="{FF2B5EF4-FFF2-40B4-BE49-F238E27FC236}">
                <a16:creationId xmlns:a16="http://schemas.microsoft.com/office/drawing/2014/main" id="{001DB16D-AB49-D7EE-E405-547F0DB8D1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143C21-FA0D-1099-9778-59138B68D962}"/>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20408881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FCB42-039D-BEDB-1D67-B70B6648F47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2B6B5F-DE41-B34B-E752-3916D9CD1261}"/>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4" name="Footer Placeholder 3">
            <a:extLst>
              <a:ext uri="{FF2B5EF4-FFF2-40B4-BE49-F238E27FC236}">
                <a16:creationId xmlns:a16="http://schemas.microsoft.com/office/drawing/2014/main" id="{42D7E03E-FD65-8AC7-A3E2-D776483F9B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44D677-8AB3-C245-0C85-38BAF3F32487}"/>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1985283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0BF73B-BDF5-EE34-1EE1-E76A627EE262}"/>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3" name="Footer Placeholder 2">
            <a:extLst>
              <a:ext uri="{FF2B5EF4-FFF2-40B4-BE49-F238E27FC236}">
                <a16:creationId xmlns:a16="http://schemas.microsoft.com/office/drawing/2014/main" id="{78F3E96F-0995-8664-B1D3-5BD828A819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D42618-3158-788A-B3E1-8834EFD1D549}"/>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2901783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2F1D-DD41-C959-E92F-D47B5FB9F7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46DAB8-3714-1EEB-06AD-AF36E9EAD1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C85F50-BF7E-F0AE-9545-1639983793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A05B7F-5192-BFB5-CCD1-F3C5A820D21B}"/>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6" name="Footer Placeholder 5">
            <a:extLst>
              <a:ext uri="{FF2B5EF4-FFF2-40B4-BE49-F238E27FC236}">
                <a16:creationId xmlns:a16="http://schemas.microsoft.com/office/drawing/2014/main" id="{2F86C9D0-7F83-2E1A-DF77-FCD81AFC6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131112-9F5F-0038-9AFC-61F9EAD2B459}"/>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374048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6EF5F-4801-0A43-DAC2-3E99E056BE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171D35-1F13-4D3E-EB80-00BEDF9AF0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410F8B-4B34-C209-3DAC-CFBEFC3B3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BF7F6A-C34C-93C9-857A-328C908319BE}"/>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6" name="Footer Placeholder 5">
            <a:extLst>
              <a:ext uri="{FF2B5EF4-FFF2-40B4-BE49-F238E27FC236}">
                <a16:creationId xmlns:a16="http://schemas.microsoft.com/office/drawing/2014/main" id="{70B17924-7EE6-7763-FE38-593FF2DEE8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A376C6-FBB1-F14E-E931-9659C18FA1E3}"/>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1325270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82554-3C37-5843-0F70-73AA7645FF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9F085-2F5D-922B-47FD-05926705E6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036841-9507-45AB-E2EC-AF6E3E6A2CC7}"/>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8E6A5976-6311-4744-B776-F28FAB8EBA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CF4116-BF25-C504-9BDB-FA87E0524840}"/>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4107602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53F5E4-D880-3657-7B46-F0BBE5C4168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3B325EB-2C46-0812-596F-E2A74466F2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AE5209-1CDA-9525-07E4-A143BC4E8605}"/>
              </a:ext>
            </a:extLst>
          </p:cNvPr>
          <p:cNvSpPr>
            <a:spLocks noGrp="1"/>
          </p:cNvSpPr>
          <p:nvPr>
            <p:ph type="dt" sz="half" idx="10"/>
          </p:nvPr>
        </p:nvSpPr>
        <p:spPr/>
        <p:txBody>
          <a:body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5AA0446F-15B3-B9BF-0225-F995A0B3C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5F622-32EF-5531-F4D2-EED6858280CB}"/>
              </a:ext>
            </a:extLst>
          </p:cNvPr>
          <p:cNvSpPr>
            <a:spLocks noGrp="1"/>
          </p:cNvSpPr>
          <p:nvPr>
            <p:ph type="sldNum" sz="quarter" idx="12"/>
          </p:nvPr>
        </p:nvSpPr>
        <p:spPr/>
        <p:txBody>
          <a:bodyPr/>
          <a:lstStyle/>
          <a:p>
            <a:fld id="{E8BA11EB-90AE-4F99-B17E-ABA87100D17C}" type="slidenum">
              <a:rPr lang="en-US" smtClean="0"/>
              <a:t>‹#›</a:t>
            </a:fld>
            <a:endParaRPr lang="en-US"/>
          </a:p>
        </p:txBody>
      </p:sp>
    </p:spTree>
    <p:extLst>
      <p:ext uri="{BB962C8B-B14F-4D97-AF65-F5344CB8AC3E}">
        <p14:creationId xmlns:p14="http://schemas.microsoft.com/office/powerpoint/2010/main" val="3020960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6E5B62-04BC-BA1A-F002-F1099851A0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3F93C5-3C2A-C1BC-8EFC-B5F5C7F359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6CBCC0-BC18-E859-C0C4-054D79FD79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1157FA-64A7-45E8-BAA4-97AE74C88D0F}" type="datetimeFigureOut">
              <a:rPr lang="en-US" smtClean="0"/>
              <a:t>1/20/2026</a:t>
            </a:fld>
            <a:endParaRPr lang="en-US"/>
          </a:p>
        </p:txBody>
      </p:sp>
      <p:sp>
        <p:nvSpPr>
          <p:cNvPr id="5" name="Footer Placeholder 4">
            <a:extLst>
              <a:ext uri="{FF2B5EF4-FFF2-40B4-BE49-F238E27FC236}">
                <a16:creationId xmlns:a16="http://schemas.microsoft.com/office/drawing/2014/main" id="{40EF710A-1A97-7C92-42E4-20324F6BB6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680635-E4F2-0843-219C-C52A342873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8BA11EB-90AE-4F99-B17E-ABA87100D17C}" type="slidenum">
              <a:rPr lang="en-US" smtClean="0"/>
              <a:t>‹#›</a:t>
            </a:fld>
            <a:endParaRPr lang="en-US"/>
          </a:p>
        </p:txBody>
      </p:sp>
    </p:spTree>
    <p:extLst>
      <p:ext uri="{BB962C8B-B14F-4D97-AF65-F5344CB8AC3E}">
        <p14:creationId xmlns:p14="http://schemas.microsoft.com/office/powerpoint/2010/main" val="1624587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hyperlink" Target="https://posit.co/download/rstudio-deskto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sv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DA8A-4B12-1A03-29AC-4678911C342E}"/>
              </a:ext>
            </a:extLst>
          </p:cNvPr>
          <p:cNvSpPr>
            <a:spLocks noGrp="1"/>
          </p:cNvSpPr>
          <p:nvPr>
            <p:ph type="ctrTitle"/>
          </p:nvPr>
        </p:nvSpPr>
        <p:spPr/>
        <p:txBody>
          <a:bodyPr/>
          <a:lstStyle/>
          <a:p>
            <a:r>
              <a:rPr lang="en-US" dirty="0"/>
              <a:t>Auto-qPCR</a:t>
            </a:r>
          </a:p>
        </p:txBody>
      </p:sp>
      <p:sp>
        <p:nvSpPr>
          <p:cNvPr id="3" name="Subtitle 2">
            <a:extLst>
              <a:ext uri="{FF2B5EF4-FFF2-40B4-BE49-F238E27FC236}">
                <a16:creationId xmlns:a16="http://schemas.microsoft.com/office/drawing/2014/main" id="{27FC8CD5-6950-60A5-DA40-AC522F06AFC4}"/>
              </a:ext>
            </a:extLst>
          </p:cNvPr>
          <p:cNvSpPr>
            <a:spLocks noGrp="1"/>
          </p:cNvSpPr>
          <p:nvPr>
            <p:ph type="subTitle" idx="1"/>
          </p:nvPr>
        </p:nvSpPr>
        <p:spPr/>
        <p:txBody>
          <a:bodyPr/>
          <a:lstStyle/>
          <a:p>
            <a:r>
              <a:rPr lang="en-US" dirty="0"/>
              <a:t>A R-Shinny App</a:t>
            </a:r>
          </a:p>
          <a:p>
            <a:r>
              <a:rPr lang="en-US" dirty="0"/>
              <a:t>By Mitchell Kendzel</a:t>
            </a:r>
          </a:p>
        </p:txBody>
      </p:sp>
    </p:spTree>
    <p:extLst>
      <p:ext uri="{BB962C8B-B14F-4D97-AF65-F5344CB8AC3E}">
        <p14:creationId xmlns:p14="http://schemas.microsoft.com/office/powerpoint/2010/main" val="2453623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1338B-8E5E-2923-7EA0-89B95FA97CB0}"/>
              </a:ext>
            </a:extLst>
          </p:cNvPr>
          <p:cNvSpPr>
            <a:spLocks noGrp="1"/>
          </p:cNvSpPr>
          <p:nvPr>
            <p:ph type="title"/>
          </p:nvPr>
        </p:nvSpPr>
        <p:spPr/>
        <p:txBody>
          <a:bodyPr/>
          <a:lstStyle/>
          <a:p>
            <a:r>
              <a:rPr lang="en-US" dirty="0"/>
              <a:t>Raw PCR machine readings</a:t>
            </a:r>
          </a:p>
        </p:txBody>
      </p:sp>
      <p:pic>
        <p:nvPicPr>
          <p:cNvPr id="7" name="Picture 6" descr="A screenshot of a computer&#10;&#10;AI-generated content may be incorrect.">
            <a:extLst>
              <a:ext uri="{FF2B5EF4-FFF2-40B4-BE49-F238E27FC236}">
                <a16:creationId xmlns:a16="http://schemas.microsoft.com/office/drawing/2014/main" id="{BFF1298C-8B38-7909-7EB5-D0A2EA9FEC51}"/>
              </a:ext>
            </a:extLst>
          </p:cNvPr>
          <p:cNvPicPr>
            <a:picLocks noChangeAspect="1"/>
          </p:cNvPicPr>
          <p:nvPr/>
        </p:nvPicPr>
        <p:blipFill>
          <a:blip r:embed="rId2"/>
          <a:stretch>
            <a:fillRect/>
          </a:stretch>
        </p:blipFill>
        <p:spPr>
          <a:xfrm>
            <a:off x="1770278" y="1474989"/>
            <a:ext cx="8152738" cy="5156239"/>
          </a:xfrm>
          <a:prstGeom prst="rect">
            <a:avLst/>
          </a:prstGeom>
        </p:spPr>
      </p:pic>
      <p:sp>
        <p:nvSpPr>
          <p:cNvPr id="8" name="Rectangle 7">
            <a:extLst>
              <a:ext uri="{FF2B5EF4-FFF2-40B4-BE49-F238E27FC236}">
                <a16:creationId xmlns:a16="http://schemas.microsoft.com/office/drawing/2014/main" id="{D26C99FB-C206-5412-DC65-59CF7B24D8B2}"/>
              </a:ext>
            </a:extLst>
          </p:cNvPr>
          <p:cNvSpPr/>
          <p:nvPr/>
        </p:nvSpPr>
        <p:spPr>
          <a:xfrm>
            <a:off x="4043573" y="3342599"/>
            <a:ext cx="2741135" cy="496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&lt;- Meta Data information</a:t>
            </a:r>
          </a:p>
        </p:txBody>
      </p:sp>
      <p:sp>
        <p:nvSpPr>
          <p:cNvPr id="9" name="Rectangle 8">
            <a:extLst>
              <a:ext uri="{FF2B5EF4-FFF2-40B4-BE49-F238E27FC236}">
                <a16:creationId xmlns:a16="http://schemas.microsoft.com/office/drawing/2014/main" id="{8968756E-0C1D-F856-F747-6131D2473A51}"/>
              </a:ext>
            </a:extLst>
          </p:cNvPr>
          <p:cNvSpPr/>
          <p:nvPr/>
        </p:nvSpPr>
        <p:spPr>
          <a:xfrm>
            <a:off x="7057836" y="5009692"/>
            <a:ext cx="2741135" cy="49648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&lt;- Sample information</a:t>
            </a:r>
          </a:p>
          <a:p>
            <a:pPr algn="ctr"/>
            <a:r>
              <a:rPr lang="en-US" sz="1200" dirty="0">
                <a:solidFill>
                  <a:schemeClr val="tx1"/>
                </a:solidFill>
              </a:rPr>
              <a:t>(what we need for analysis)</a:t>
            </a:r>
          </a:p>
        </p:txBody>
      </p:sp>
    </p:spTree>
    <p:extLst>
      <p:ext uri="{BB962C8B-B14F-4D97-AF65-F5344CB8AC3E}">
        <p14:creationId xmlns:p14="http://schemas.microsoft.com/office/powerpoint/2010/main" val="1146204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3296-F67C-7C01-6EE9-6F6C41834C59}"/>
              </a:ext>
            </a:extLst>
          </p:cNvPr>
          <p:cNvSpPr>
            <a:spLocks noGrp="1"/>
          </p:cNvSpPr>
          <p:nvPr>
            <p:ph type="title"/>
          </p:nvPr>
        </p:nvSpPr>
        <p:spPr/>
        <p:txBody>
          <a:bodyPr/>
          <a:lstStyle/>
          <a:p>
            <a:r>
              <a:rPr lang="en-US"/>
              <a:t>Sample Name &amp; Target Name Variables</a:t>
            </a:r>
            <a:endParaRPr lang="en-US" dirty="0"/>
          </a:p>
        </p:txBody>
      </p:sp>
      <p:sp>
        <p:nvSpPr>
          <p:cNvPr id="3" name="Content Placeholder 2">
            <a:extLst>
              <a:ext uri="{FF2B5EF4-FFF2-40B4-BE49-F238E27FC236}">
                <a16:creationId xmlns:a16="http://schemas.microsoft.com/office/drawing/2014/main" id="{A89707CF-A045-BA38-8CC6-E2CB02009603}"/>
              </a:ext>
            </a:extLst>
          </p:cNvPr>
          <p:cNvSpPr>
            <a:spLocks noGrp="1"/>
          </p:cNvSpPr>
          <p:nvPr>
            <p:ph idx="1"/>
          </p:nvPr>
        </p:nvSpPr>
        <p:spPr>
          <a:xfrm>
            <a:off x="838200" y="1825625"/>
            <a:ext cx="5257800" cy="4351338"/>
          </a:xfrm>
        </p:spPr>
        <p:txBody>
          <a:bodyPr/>
          <a:lstStyle/>
          <a:p>
            <a:r>
              <a:rPr lang="en-US" dirty="0"/>
              <a:t>Sample Name format:</a:t>
            </a:r>
          </a:p>
          <a:p>
            <a:pPr lvl="1"/>
            <a:r>
              <a:rPr lang="en-US" dirty="0"/>
              <a:t>#_x_y_z</a:t>
            </a:r>
          </a:p>
          <a:p>
            <a:pPr lvl="1"/>
            <a:r>
              <a:rPr lang="en-US" dirty="0"/>
              <a:t>Where:</a:t>
            </a:r>
          </a:p>
          <a:p>
            <a:pPr lvl="2"/>
            <a:r>
              <a:rPr lang="en-US" dirty="0"/>
              <a:t>#, is a unique number to identify a single sample, Sample ID</a:t>
            </a:r>
          </a:p>
          <a:p>
            <a:pPr lvl="2"/>
            <a:r>
              <a:rPr lang="en-US" dirty="0"/>
              <a:t>x, y, z, are potential grouping variables, ranging from treatment, tissue, timepoints</a:t>
            </a:r>
          </a:p>
          <a:p>
            <a:pPr lvl="2"/>
            <a:endParaRPr lang="en-US" dirty="0"/>
          </a:p>
        </p:txBody>
      </p:sp>
      <p:pic>
        <p:nvPicPr>
          <p:cNvPr id="4" name="Picture 3">
            <a:extLst>
              <a:ext uri="{FF2B5EF4-FFF2-40B4-BE49-F238E27FC236}">
                <a16:creationId xmlns:a16="http://schemas.microsoft.com/office/drawing/2014/main" id="{9A18FD7B-74C5-0B55-EF0F-1E1FDD63666A}"/>
              </a:ext>
            </a:extLst>
          </p:cNvPr>
          <p:cNvPicPr>
            <a:picLocks noChangeAspect="1"/>
          </p:cNvPicPr>
          <p:nvPr/>
        </p:nvPicPr>
        <p:blipFill>
          <a:blip r:embed="rId2"/>
          <a:srcRect l="-249" t="67764" r="55141"/>
          <a:stretch>
            <a:fillRect/>
          </a:stretch>
        </p:blipFill>
        <p:spPr>
          <a:xfrm>
            <a:off x="6356909" y="2568438"/>
            <a:ext cx="5243604" cy="2369322"/>
          </a:xfrm>
          <a:prstGeom prst="rect">
            <a:avLst/>
          </a:prstGeom>
        </p:spPr>
      </p:pic>
    </p:spTree>
    <p:extLst>
      <p:ext uri="{BB962C8B-B14F-4D97-AF65-F5344CB8AC3E}">
        <p14:creationId xmlns:p14="http://schemas.microsoft.com/office/powerpoint/2010/main" val="2748973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A5DAC-C3E4-AD60-DE17-B1BBE768874D}"/>
              </a:ext>
            </a:extLst>
          </p:cNvPr>
          <p:cNvSpPr>
            <a:spLocks noGrp="1"/>
          </p:cNvSpPr>
          <p:nvPr>
            <p:ph type="title"/>
          </p:nvPr>
        </p:nvSpPr>
        <p:spPr/>
        <p:txBody>
          <a:bodyPr/>
          <a:lstStyle/>
          <a:p>
            <a:r>
              <a:rPr lang="en-US" dirty="0"/>
              <a:t>Naming Example 1</a:t>
            </a:r>
          </a:p>
        </p:txBody>
      </p:sp>
      <p:sp>
        <p:nvSpPr>
          <p:cNvPr id="11" name="TextBox 10">
            <a:extLst>
              <a:ext uri="{FF2B5EF4-FFF2-40B4-BE49-F238E27FC236}">
                <a16:creationId xmlns:a16="http://schemas.microsoft.com/office/drawing/2014/main" id="{CE47D81B-2A5F-EA17-60DB-3DF50A2EE093}"/>
              </a:ext>
            </a:extLst>
          </p:cNvPr>
          <p:cNvSpPr txBox="1"/>
          <p:nvPr/>
        </p:nvSpPr>
        <p:spPr>
          <a:xfrm>
            <a:off x="244242" y="2352067"/>
            <a:ext cx="6163538" cy="369332"/>
          </a:xfrm>
          <a:prstGeom prst="rect">
            <a:avLst/>
          </a:prstGeom>
          <a:noFill/>
        </p:spPr>
        <p:txBody>
          <a:bodyPr wrap="square" rtlCol="0">
            <a:spAutoFit/>
          </a:bodyPr>
          <a:lstStyle/>
          <a:p>
            <a:r>
              <a:rPr lang="en-US" dirty="0"/>
              <a:t>Example 1: Experiment with 3 treatments, 1 sample per dish</a:t>
            </a:r>
          </a:p>
        </p:txBody>
      </p:sp>
      <p:cxnSp>
        <p:nvCxnSpPr>
          <p:cNvPr id="13" name="Straight Connector 12">
            <a:extLst>
              <a:ext uri="{FF2B5EF4-FFF2-40B4-BE49-F238E27FC236}">
                <a16:creationId xmlns:a16="http://schemas.microsoft.com/office/drawing/2014/main" id="{43FD9B43-DDEF-EDFB-B927-82D83AD8F97E}"/>
              </a:ext>
            </a:extLst>
          </p:cNvPr>
          <p:cNvCxnSpPr>
            <a:cxnSpLocks/>
          </p:cNvCxnSpPr>
          <p:nvPr/>
        </p:nvCxnSpPr>
        <p:spPr>
          <a:xfrm>
            <a:off x="2028042" y="3068530"/>
            <a:ext cx="0" cy="18175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A26ACD6-DFC3-3D8D-7BB5-26B2E0915405}"/>
              </a:ext>
            </a:extLst>
          </p:cNvPr>
          <p:cNvCxnSpPr>
            <a:cxnSpLocks/>
          </p:cNvCxnSpPr>
          <p:nvPr/>
        </p:nvCxnSpPr>
        <p:spPr>
          <a:xfrm>
            <a:off x="4086022" y="3059668"/>
            <a:ext cx="0" cy="1756637"/>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26384A90-15A2-7323-21BC-AC6B0C6B8A7D}"/>
              </a:ext>
            </a:extLst>
          </p:cNvPr>
          <p:cNvSpPr txBox="1"/>
          <p:nvPr/>
        </p:nvSpPr>
        <p:spPr>
          <a:xfrm>
            <a:off x="755604" y="3068530"/>
            <a:ext cx="728084" cy="369332"/>
          </a:xfrm>
          <a:prstGeom prst="rect">
            <a:avLst/>
          </a:prstGeom>
          <a:noFill/>
        </p:spPr>
        <p:txBody>
          <a:bodyPr wrap="none" rtlCol="0">
            <a:spAutoFit/>
          </a:bodyPr>
          <a:lstStyle/>
          <a:p>
            <a:r>
              <a:rPr lang="en-US" dirty="0"/>
              <a:t>Mock</a:t>
            </a:r>
          </a:p>
        </p:txBody>
      </p:sp>
      <p:sp>
        <p:nvSpPr>
          <p:cNvPr id="16" name="TextBox 15">
            <a:extLst>
              <a:ext uri="{FF2B5EF4-FFF2-40B4-BE49-F238E27FC236}">
                <a16:creationId xmlns:a16="http://schemas.microsoft.com/office/drawing/2014/main" id="{989D4A9D-8DE8-416B-8464-A73BC7381C99}"/>
              </a:ext>
            </a:extLst>
          </p:cNvPr>
          <p:cNvSpPr txBox="1"/>
          <p:nvPr/>
        </p:nvSpPr>
        <p:spPr>
          <a:xfrm>
            <a:off x="2428808" y="3059668"/>
            <a:ext cx="1368131" cy="369332"/>
          </a:xfrm>
          <a:prstGeom prst="rect">
            <a:avLst/>
          </a:prstGeom>
          <a:noFill/>
        </p:spPr>
        <p:txBody>
          <a:bodyPr wrap="none" rtlCol="0">
            <a:spAutoFit/>
          </a:bodyPr>
          <a:lstStyle/>
          <a:p>
            <a:r>
              <a:rPr lang="en-US" dirty="0"/>
              <a:t>Treatment 1</a:t>
            </a:r>
          </a:p>
        </p:txBody>
      </p:sp>
      <p:sp>
        <p:nvSpPr>
          <p:cNvPr id="17" name="TextBox 16">
            <a:extLst>
              <a:ext uri="{FF2B5EF4-FFF2-40B4-BE49-F238E27FC236}">
                <a16:creationId xmlns:a16="http://schemas.microsoft.com/office/drawing/2014/main" id="{A19EE6B1-B48E-2A72-7B8B-FBB5987EC494}"/>
              </a:ext>
            </a:extLst>
          </p:cNvPr>
          <p:cNvSpPr txBox="1"/>
          <p:nvPr/>
        </p:nvSpPr>
        <p:spPr>
          <a:xfrm>
            <a:off x="4375105" y="3059668"/>
            <a:ext cx="1368131" cy="369332"/>
          </a:xfrm>
          <a:prstGeom prst="rect">
            <a:avLst/>
          </a:prstGeom>
          <a:noFill/>
        </p:spPr>
        <p:txBody>
          <a:bodyPr wrap="none" rtlCol="0">
            <a:spAutoFit/>
          </a:bodyPr>
          <a:lstStyle/>
          <a:p>
            <a:r>
              <a:rPr lang="en-US" dirty="0"/>
              <a:t>Treatment 2</a:t>
            </a:r>
          </a:p>
        </p:txBody>
      </p:sp>
      <p:sp>
        <p:nvSpPr>
          <p:cNvPr id="23" name="TextBox 22">
            <a:extLst>
              <a:ext uri="{FF2B5EF4-FFF2-40B4-BE49-F238E27FC236}">
                <a16:creationId xmlns:a16="http://schemas.microsoft.com/office/drawing/2014/main" id="{80447466-93DA-7497-F0AE-D42E4FD3E70A}"/>
              </a:ext>
            </a:extLst>
          </p:cNvPr>
          <p:cNvSpPr txBox="1"/>
          <p:nvPr/>
        </p:nvSpPr>
        <p:spPr>
          <a:xfrm>
            <a:off x="273661" y="5189162"/>
            <a:ext cx="5678423" cy="1754326"/>
          </a:xfrm>
          <a:prstGeom prst="rect">
            <a:avLst/>
          </a:prstGeom>
          <a:noFill/>
        </p:spPr>
        <p:txBody>
          <a:bodyPr wrap="square" rtlCol="0">
            <a:spAutoFit/>
          </a:bodyPr>
          <a:lstStyle/>
          <a:p>
            <a:r>
              <a:rPr lang="en-US" dirty="0"/>
              <a:t>Example 1 (#_x_y_z naming convention)</a:t>
            </a:r>
          </a:p>
          <a:p>
            <a:pPr marL="285750" indent="-285750">
              <a:buFontTx/>
              <a:buChar char="-"/>
            </a:pPr>
            <a:r>
              <a:rPr lang="en-US" dirty="0"/>
              <a:t>6 unique samples</a:t>
            </a:r>
          </a:p>
          <a:p>
            <a:pPr marL="285750" indent="-285750">
              <a:buFontTx/>
              <a:buChar char="-"/>
            </a:pPr>
            <a:r>
              <a:rPr lang="en-US" dirty="0"/>
              <a:t>3 individual treatments</a:t>
            </a:r>
          </a:p>
          <a:p>
            <a:pPr marL="285750" indent="-285750">
              <a:buFontTx/>
              <a:buChar char="-"/>
            </a:pPr>
            <a:r>
              <a:rPr lang="en-US" dirty="0"/>
              <a:t>Names: 1_mock, 2_mock, 3_treatment1, 4_treatment1, 5_treatment2, 6_treatment2</a:t>
            </a:r>
          </a:p>
          <a:p>
            <a:pPr marL="285750" indent="-285750">
              <a:buFontTx/>
              <a:buChar char="-"/>
            </a:pPr>
            <a:endParaRPr lang="en-US" dirty="0"/>
          </a:p>
        </p:txBody>
      </p:sp>
      <p:sp>
        <p:nvSpPr>
          <p:cNvPr id="24" name="TextBox 23">
            <a:extLst>
              <a:ext uri="{FF2B5EF4-FFF2-40B4-BE49-F238E27FC236}">
                <a16:creationId xmlns:a16="http://schemas.microsoft.com/office/drawing/2014/main" id="{98AD7366-326D-6D6C-5A38-A67778DDC6CE}"/>
              </a:ext>
            </a:extLst>
          </p:cNvPr>
          <p:cNvSpPr txBox="1"/>
          <p:nvPr/>
        </p:nvSpPr>
        <p:spPr>
          <a:xfrm>
            <a:off x="324076" y="3700969"/>
            <a:ext cx="431528" cy="369332"/>
          </a:xfrm>
          <a:prstGeom prst="rect">
            <a:avLst/>
          </a:prstGeom>
          <a:noFill/>
        </p:spPr>
        <p:txBody>
          <a:bodyPr wrap="none" rtlCol="0">
            <a:spAutoFit/>
          </a:bodyPr>
          <a:lstStyle/>
          <a:p>
            <a:r>
              <a:rPr lang="en-US" dirty="0"/>
              <a:t>#1</a:t>
            </a:r>
          </a:p>
        </p:txBody>
      </p:sp>
      <p:sp>
        <p:nvSpPr>
          <p:cNvPr id="25" name="TextBox 24">
            <a:extLst>
              <a:ext uri="{FF2B5EF4-FFF2-40B4-BE49-F238E27FC236}">
                <a16:creationId xmlns:a16="http://schemas.microsoft.com/office/drawing/2014/main" id="{331F1182-D948-5684-BB89-148DC8B10A19}"/>
              </a:ext>
            </a:extLst>
          </p:cNvPr>
          <p:cNvSpPr txBox="1"/>
          <p:nvPr/>
        </p:nvSpPr>
        <p:spPr>
          <a:xfrm>
            <a:off x="352254" y="4363196"/>
            <a:ext cx="431528" cy="369332"/>
          </a:xfrm>
          <a:prstGeom prst="rect">
            <a:avLst/>
          </a:prstGeom>
          <a:noFill/>
        </p:spPr>
        <p:txBody>
          <a:bodyPr wrap="none" rtlCol="0">
            <a:spAutoFit/>
          </a:bodyPr>
          <a:lstStyle/>
          <a:p>
            <a:r>
              <a:rPr lang="en-US" dirty="0"/>
              <a:t>#2</a:t>
            </a:r>
          </a:p>
        </p:txBody>
      </p:sp>
      <p:sp>
        <p:nvSpPr>
          <p:cNvPr id="26" name="TextBox 25">
            <a:extLst>
              <a:ext uri="{FF2B5EF4-FFF2-40B4-BE49-F238E27FC236}">
                <a16:creationId xmlns:a16="http://schemas.microsoft.com/office/drawing/2014/main" id="{46B519D0-2994-C642-14EC-7C46DCA3A98D}"/>
              </a:ext>
            </a:extLst>
          </p:cNvPr>
          <p:cNvSpPr txBox="1"/>
          <p:nvPr/>
        </p:nvSpPr>
        <p:spPr>
          <a:xfrm>
            <a:off x="2139866" y="4339963"/>
            <a:ext cx="431528" cy="369332"/>
          </a:xfrm>
          <a:prstGeom prst="rect">
            <a:avLst/>
          </a:prstGeom>
          <a:noFill/>
        </p:spPr>
        <p:txBody>
          <a:bodyPr wrap="none" rtlCol="0">
            <a:spAutoFit/>
          </a:bodyPr>
          <a:lstStyle/>
          <a:p>
            <a:r>
              <a:rPr lang="en-US" dirty="0"/>
              <a:t>#4</a:t>
            </a:r>
          </a:p>
        </p:txBody>
      </p:sp>
      <p:sp>
        <p:nvSpPr>
          <p:cNvPr id="27" name="TextBox 26">
            <a:extLst>
              <a:ext uri="{FF2B5EF4-FFF2-40B4-BE49-F238E27FC236}">
                <a16:creationId xmlns:a16="http://schemas.microsoft.com/office/drawing/2014/main" id="{A5AF9A28-C85E-6223-E422-9F01AE6F09BB}"/>
              </a:ext>
            </a:extLst>
          </p:cNvPr>
          <p:cNvSpPr txBox="1"/>
          <p:nvPr/>
        </p:nvSpPr>
        <p:spPr>
          <a:xfrm>
            <a:off x="2112393" y="3675430"/>
            <a:ext cx="431528" cy="369332"/>
          </a:xfrm>
          <a:prstGeom prst="rect">
            <a:avLst/>
          </a:prstGeom>
          <a:noFill/>
        </p:spPr>
        <p:txBody>
          <a:bodyPr wrap="none" rtlCol="0">
            <a:spAutoFit/>
          </a:bodyPr>
          <a:lstStyle/>
          <a:p>
            <a:r>
              <a:rPr lang="en-US" dirty="0"/>
              <a:t>#3</a:t>
            </a:r>
          </a:p>
        </p:txBody>
      </p:sp>
      <p:sp>
        <p:nvSpPr>
          <p:cNvPr id="28" name="TextBox 27">
            <a:extLst>
              <a:ext uri="{FF2B5EF4-FFF2-40B4-BE49-F238E27FC236}">
                <a16:creationId xmlns:a16="http://schemas.microsoft.com/office/drawing/2014/main" id="{D7EEF041-B627-FA12-F862-D7941CDE6FA2}"/>
              </a:ext>
            </a:extLst>
          </p:cNvPr>
          <p:cNvSpPr txBox="1"/>
          <p:nvPr/>
        </p:nvSpPr>
        <p:spPr>
          <a:xfrm>
            <a:off x="4065893" y="4395231"/>
            <a:ext cx="431528" cy="369332"/>
          </a:xfrm>
          <a:prstGeom prst="rect">
            <a:avLst/>
          </a:prstGeom>
          <a:noFill/>
        </p:spPr>
        <p:txBody>
          <a:bodyPr wrap="none" rtlCol="0">
            <a:spAutoFit/>
          </a:bodyPr>
          <a:lstStyle/>
          <a:p>
            <a:r>
              <a:rPr lang="en-US" dirty="0"/>
              <a:t>#6</a:t>
            </a:r>
          </a:p>
        </p:txBody>
      </p:sp>
      <p:sp>
        <p:nvSpPr>
          <p:cNvPr id="29" name="TextBox 28">
            <a:extLst>
              <a:ext uri="{FF2B5EF4-FFF2-40B4-BE49-F238E27FC236}">
                <a16:creationId xmlns:a16="http://schemas.microsoft.com/office/drawing/2014/main" id="{6AF9C6CF-6E37-E6E2-BCB0-65B62717F55A}"/>
              </a:ext>
            </a:extLst>
          </p:cNvPr>
          <p:cNvSpPr txBox="1"/>
          <p:nvPr/>
        </p:nvSpPr>
        <p:spPr>
          <a:xfrm>
            <a:off x="4086022" y="3700969"/>
            <a:ext cx="431528" cy="369332"/>
          </a:xfrm>
          <a:prstGeom prst="rect">
            <a:avLst/>
          </a:prstGeom>
          <a:noFill/>
        </p:spPr>
        <p:txBody>
          <a:bodyPr wrap="none" rtlCol="0">
            <a:spAutoFit/>
          </a:bodyPr>
          <a:lstStyle/>
          <a:p>
            <a:r>
              <a:rPr lang="en-US" dirty="0"/>
              <a:t>#5</a:t>
            </a:r>
          </a:p>
        </p:txBody>
      </p:sp>
      <p:pic>
        <p:nvPicPr>
          <p:cNvPr id="65" name="Graphic 64" descr="Petri Dish outline">
            <a:extLst>
              <a:ext uri="{FF2B5EF4-FFF2-40B4-BE49-F238E27FC236}">
                <a16:creationId xmlns:a16="http://schemas.microsoft.com/office/drawing/2014/main" id="{E5AA9E8E-DD14-C0A6-F244-059A25F682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2065" y="3495451"/>
            <a:ext cx="729289" cy="729289"/>
          </a:xfrm>
          <a:prstGeom prst="rect">
            <a:avLst/>
          </a:prstGeom>
        </p:spPr>
      </p:pic>
      <p:pic>
        <p:nvPicPr>
          <p:cNvPr id="66" name="Graphic 65" descr="Petri Dish outline">
            <a:extLst>
              <a:ext uri="{FF2B5EF4-FFF2-40B4-BE49-F238E27FC236}">
                <a16:creationId xmlns:a16="http://schemas.microsoft.com/office/drawing/2014/main" id="{F3463976-9C0C-080B-95DE-A9D3D382C65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8397" y="4156818"/>
            <a:ext cx="729289" cy="729289"/>
          </a:xfrm>
          <a:prstGeom prst="rect">
            <a:avLst/>
          </a:prstGeom>
        </p:spPr>
      </p:pic>
      <p:pic>
        <p:nvPicPr>
          <p:cNvPr id="67" name="Graphic 66" descr="Petri Dish outline">
            <a:extLst>
              <a:ext uri="{FF2B5EF4-FFF2-40B4-BE49-F238E27FC236}">
                <a16:creationId xmlns:a16="http://schemas.microsoft.com/office/drawing/2014/main" id="{1DC93C77-E28D-DB18-DD7D-9371D830A3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18810" y="4116658"/>
            <a:ext cx="729289" cy="729289"/>
          </a:xfrm>
          <a:prstGeom prst="rect">
            <a:avLst/>
          </a:prstGeom>
        </p:spPr>
      </p:pic>
      <p:pic>
        <p:nvPicPr>
          <p:cNvPr id="68" name="Graphic 67" descr="Petri Dish outline">
            <a:extLst>
              <a:ext uri="{FF2B5EF4-FFF2-40B4-BE49-F238E27FC236}">
                <a16:creationId xmlns:a16="http://schemas.microsoft.com/office/drawing/2014/main" id="{362ED9FB-BE76-80BD-EFC3-7F8B9AE69E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91337" y="3523029"/>
            <a:ext cx="729289" cy="729289"/>
          </a:xfrm>
          <a:prstGeom prst="rect">
            <a:avLst/>
          </a:prstGeom>
        </p:spPr>
      </p:pic>
      <p:pic>
        <p:nvPicPr>
          <p:cNvPr id="69" name="Graphic 68" descr="Petri Dish outline">
            <a:extLst>
              <a:ext uri="{FF2B5EF4-FFF2-40B4-BE49-F238E27FC236}">
                <a16:creationId xmlns:a16="http://schemas.microsoft.com/office/drawing/2014/main" id="{F5CFCC46-1EF3-565A-AF1A-1AB65DAB79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4850" y="3544222"/>
            <a:ext cx="729289" cy="729289"/>
          </a:xfrm>
          <a:prstGeom prst="rect">
            <a:avLst/>
          </a:prstGeom>
        </p:spPr>
      </p:pic>
      <p:pic>
        <p:nvPicPr>
          <p:cNvPr id="70" name="Graphic 69" descr="Petri Dish outline">
            <a:extLst>
              <a:ext uri="{FF2B5EF4-FFF2-40B4-BE49-F238E27FC236}">
                <a16:creationId xmlns:a16="http://schemas.microsoft.com/office/drawing/2014/main" id="{E9273A97-A948-182D-D4B0-55E6EEE72F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4850" y="4215252"/>
            <a:ext cx="729289" cy="729289"/>
          </a:xfrm>
          <a:prstGeom prst="rect">
            <a:avLst/>
          </a:prstGeom>
        </p:spPr>
      </p:pic>
    </p:spTree>
    <p:extLst>
      <p:ext uri="{BB962C8B-B14F-4D97-AF65-F5344CB8AC3E}">
        <p14:creationId xmlns:p14="http://schemas.microsoft.com/office/powerpoint/2010/main" val="686232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AC94-87C9-8EA3-4932-73F4AF7FFBEA}"/>
              </a:ext>
            </a:extLst>
          </p:cNvPr>
          <p:cNvSpPr>
            <a:spLocks noGrp="1"/>
          </p:cNvSpPr>
          <p:nvPr>
            <p:ph type="title"/>
          </p:nvPr>
        </p:nvSpPr>
        <p:spPr>
          <a:xfrm>
            <a:off x="29318" y="6569"/>
            <a:ext cx="10515600" cy="1325563"/>
          </a:xfrm>
        </p:spPr>
        <p:txBody>
          <a:bodyPr/>
          <a:lstStyle/>
          <a:p>
            <a:r>
              <a:rPr lang="en-US" dirty="0"/>
              <a:t>Naming Example 2</a:t>
            </a:r>
          </a:p>
        </p:txBody>
      </p:sp>
      <p:pic>
        <p:nvPicPr>
          <p:cNvPr id="49" name="Graphic 48" descr="Rat with solid fill">
            <a:extLst>
              <a:ext uri="{FF2B5EF4-FFF2-40B4-BE49-F238E27FC236}">
                <a16:creationId xmlns:a16="http://schemas.microsoft.com/office/drawing/2014/main" id="{8456FF7C-865A-25FD-46D0-B2748BA95A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965639" y="3265190"/>
            <a:ext cx="914400" cy="914400"/>
          </a:xfrm>
          <a:prstGeom prst="rect">
            <a:avLst/>
          </a:prstGeom>
        </p:spPr>
      </p:pic>
      <p:cxnSp>
        <p:nvCxnSpPr>
          <p:cNvPr id="53" name="Straight Connector 52">
            <a:extLst>
              <a:ext uri="{FF2B5EF4-FFF2-40B4-BE49-F238E27FC236}">
                <a16:creationId xmlns:a16="http://schemas.microsoft.com/office/drawing/2014/main" id="{A36E486C-98EC-3D36-2DE2-31B7A12B0067}"/>
              </a:ext>
            </a:extLst>
          </p:cNvPr>
          <p:cNvCxnSpPr>
            <a:cxnSpLocks/>
          </p:cNvCxnSpPr>
          <p:nvPr/>
        </p:nvCxnSpPr>
        <p:spPr>
          <a:xfrm>
            <a:off x="8370266" y="2969369"/>
            <a:ext cx="0" cy="1817577"/>
          </a:xfrm>
          <a:prstGeom prst="line">
            <a:avLst/>
          </a:prstGeom>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B30C9394-0CB7-42E9-B0AF-569E04D132E7}"/>
              </a:ext>
            </a:extLst>
          </p:cNvPr>
          <p:cNvSpPr txBox="1"/>
          <p:nvPr/>
        </p:nvSpPr>
        <p:spPr>
          <a:xfrm>
            <a:off x="5975121" y="2990432"/>
            <a:ext cx="728084" cy="369332"/>
          </a:xfrm>
          <a:prstGeom prst="rect">
            <a:avLst/>
          </a:prstGeom>
          <a:noFill/>
        </p:spPr>
        <p:txBody>
          <a:bodyPr wrap="none" rtlCol="0">
            <a:spAutoFit/>
          </a:bodyPr>
          <a:lstStyle/>
          <a:p>
            <a:r>
              <a:rPr lang="en-US" dirty="0"/>
              <a:t>Mock</a:t>
            </a:r>
          </a:p>
        </p:txBody>
      </p:sp>
      <p:sp>
        <p:nvSpPr>
          <p:cNvPr id="56" name="TextBox 55">
            <a:extLst>
              <a:ext uri="{FF2B5EF4-FFF2-40B4-BE49-F238E27FC236}">
                <a16:creationId xmlns:a16="http://schemas.microsoft.com/office/drawing/2014/main" id="{26BD79E0-416B-D683-BCA4-AE0F55830833}"/>
              </a:ext>
            </a:extLst>
          </p:cNvPr>
          <p:cNvSpPr txBox="1"/>
          <p:nvPr/>
        </p:nvSpPr>
        <p:spPr>
          <a:xfrm>
            <a:off x="8692069" y="2961074"/>
            <a:ext cx="1198213" cy="369332"/>
          </a:xfrm>
          <a:prstGeom prst="rect">
            <a:avLst/>
          </a:prstGeom>
          <a:noFill/>
        </p:spPr>
        <p:txBody>
          <a:bodyPr wrap="none" rtlCol="0">
            <a:spAutoFit/>
          </a:bodyPr>
          <a:lstStyle/>
          <a:p>
            <a:r>
              <a:rPr lang="en-US" dirty="0"/>
              <a:t>Treatment</a:t>
            </a:r>
          </a:p>
        </p:txBody>
      </p:sp>
      <p:sp>
        <p:nvSpPr>
          <p:cNvPr id="58" name="TextBox 57">
            <a:extLst>
              <a:ext uri="{FF2B5EF4-FFF2-40B4-BE49-F238E27FC236}">
                <a16:creationId xmlns:a16="http://schemas.microsoft.com/office/drawing/2014/main" id="{2B8197A8-EFCD-8B39-5D05-7B1D04A14322}"/>
              </a:ext>
            </a:extLst>
          </p:cNvPr>
          <p:cNvSpPr txBox="1"/>
          <p:nvPr/>
        </p:nvSpPr>
        <p:spPr>
          <a:xfrm>
            <a:off x="5655918" y="3593513"/>
            <a:ext cx="431528" cy="369332"/>
          </a:xfrm>
          <a:prstGeom prst="rect">
            <a:avLst/>
          </a:prstGeom>
          <a:noFill/>
        </p:spPr>
        <p:txBody>
          <a:bodyPr wrap="none" rtlCol="0">
            <a:spAutoFit/>
          </a:bodyPr>
          <a:lstStyle/>
          <a:p>
            <a:r>
              <a:rPr lang="en-US" dirty="0"/>
              <a:t>#1</a:t>
            </a:r>
          </a:p>
        </p:txBody>
      </p:sp>
      <p:sp>
        <p:nvSpPr>
          <p:cNvPr id="59" name="TextBox 58">
            <a:extLst>
              <a:ext uri="{FF2B5EF4-FFF2-40B4-BE49-F238E27FC236}">
                <a16:creationId xmlns:a16="http://schemas.microsoft.com/office/drawing/2014/main" id="{0F716945-20F6-24BD-8F26-CF1A98C50562}"/>
              </a:ext>
            </a:extLst>
          </p:cNvPr>
          <p:cNvSpPr txBox="1"/>
          <p:nvPr/>
        </p:nvSpPr>
        <p:spPr>
          <a:xfrm>
            <a:off x="5684096" y="4255740"/>
            <a:ext cx="431528" cy="369332"/>
          </a:xfrm>
          <a:prstGeom prst="rect">
            <a:avLst/>
          </a:prstGeom>
          <a:noFill/>
        </p:spPr>
        <p:txBody>
          <a:bodyPr wrap="none" rtlCol="0">
            <a:spAutoFit/>
          </a:bodyPr>
          <a:lstStyle/>
          <a:p>
            <a:r>
              <a:rPr lang="en-US" dirty="0"/>
              <a:t>#2</a:t>
            </a:r>
          </a:p>
        </p:txBody>
      </p:sp>
      <p:sp>
        <p:nvSpPr>
          <p:cNvPr id="60" name="TextBox 59">
            <a:extLst>
              <a:ext uri="{FF2B5EF4-FFF2-40B4-BE49-F238E27FC236}">
                <a16:creationId xmlns:a16="http://schemas.microsoft.com/office/drawing/2014/main" id="{5DA027D5-B264-3825-9EB1-5064E7684EED}"/>
              </a:ext>
            </a:extLst>
          </p:cNvPr>
          <p:cNvSpPr txBox="1"/>
          <p:nvPr/>
        </p:nvSpPr>
        <p:spPr>
          <a:xfrm>
            <a:off x="8446735" y="4461257"/>
            <a:ext cx="431528" cy="369332"/>
          </a:xfrm>
          <a:prstGeom prst="rect">
            <a:avLst/>
          </a:prstGeom>
          <a:noFill/>
        </p:spPr>
        <p:txBody>
          <a:bodyPr wrap="none" rtlCol="0">
            <a:spAutoFit/>
          </a:bodyPr>
          <a:lstStyle/>
          <a:p>
            <a:r>
              <a:rPr lang="en-US" dirty="0"/>
              <a:t>#4</a:t>
            </a:r>
          </a:p>
        </p:txBody>
      </p:sp>
      <p:sp>
        <p:nvSpPr>
          <p:cNvPr id="61" name="TextBox 60">
            <a:extLst>
              <a:ext uri="{FF2B5EF4-FFF2-40B4-BE49-F238E27FC236}">
                <a16:creationId xmlns:a16="http://schemas.microsoft.com/office/drawing/2014/main" id="{0FC65DEE-51C5-6AA6-E1D0-16418BEFA76F}"/>
              </a:ext>
            </a:extLst>
          </p:cNvPr>
          <p:cNvSpPr txBox="1"/>
          <p:nvPr/>
        </p:nvSpPr>
        <p:spPr>
          <a:xfrm>
            <a:off x="8375654" y="3576836"/>
            <a:ext cx="431528" cy="369332"/>
          </a:xfrm>
          <a:prstGeom prst="rect">
            <a:avLst/>
          </a:prstGeom>
          <a:noFill/>
        </p:spPr>
        <p:txBody>
          <a:bodyPr wrap="none" rtlCol="0">
            <a:spAutoFit/>
          </a:bodyPr>
          <a:lstStyle/>
          <a:p>
            <a:r>
              <a:rPr lang="en-US" dirty="0"/>
              <a:t>#3</a:t>
            </a:r>
          </a:p>
        </p:txBody>
      </p:sp>
      <p:sp>
        <p:nvSpPr>
          <p:cNvPr id="4" name="TextBox 3">
            <a:extLst>
              <a:ext uri="{FF2B5EF4-FFF2-40B4-BE49-F238E27FC236}">
                <a16:creationId xmlns:a16="http://schemas.microsoft.com/office/drawing/2014/main" id="{EF74D24E-A17E-0EA7-47F1-F4E717540D9B}"/>
              </a:ext>
            </a:extLst>
          </p:cNvPr>
          <p:cNvSpPr txBox="1"/>
          <p:nvPr/>
        </p:nvSpPr>
        <p:spPr>
          <a:xfrm>
            <a:off x="409865" y="1367785"/>
            <a:ext cx="6570287" cy="369332"/>
          </a:xfrm>
          <a:prstGeom prst="rect">
            <a:avLst/>
          </a:prstGeom>
          <a:noFill/>
        </p:spPr>
        <p:txBody>
          <a:bodyPr wrap="square" rtlCol="0">
            <a:spAutoFit/>
          </a:bodyPr>
          <a:lstStyle/>
          <a:p>
            <a:r>
              <a:rPr lang="en-US" dirty="0"/>
              <a:t>Example 2: Experiment with 2 treatments, 2 sample per animal</a:t>
            </a:r>
          </a:p>
        </p:txBody>
      </p:sp>
      <p:cxnSp>
        <p:nvCxnSpPr>
          <p:cNvPr id="5" name="Straight Connector 4">
            <a:extLst>
              <a:ext uri="{FF2B5EF4-FFF2-40B4-BE49-F238E27FC236}">
                <a16:creationId xmlns:a16="http://schemas.microsoft.com/office/drawing/2014/main" id="{4C6907D3-9853-1ED3-FEC4-FFB9D1E5AB89}"/>
              </a:ext>
            </a:extLst>
          </p:cNvPr>
          <p:cNvCxnSpPr>
            <a:cxnSpLocks/>
            <a:stCxn id="15" idx="1"/>
            <a:endCxn id="49" idx="3"/>
          </p:cNvCxnSpPr>
          <p:nvPr/>
        </p:nvCxnSpPr>
        <p:spPr>
          <a:xfrm flipH="1">
            <a:off x="6880039" y="3499352"/>
            <a:ext cx="404056" cy="22303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6C9A0809-E7A9-FB13-3EAE-EDD61F6098BD}"/>
              </a:ext>
            </a:extLst>
          </p:cNvPr>
          <p:cNvCxnSpPr>
            <a:cxnSpLocks/>
            <a:stCxn id="19" idx="1"/>
            <a:endCxn id="49" idx="3"/>
          </p:cNvCxnSpPr>
          <p:nvPr/>
        </p:nvCxnSpPr>
        <p:spPr>
          <a:xfrm flipH="1" flipV="1">
            <a:off x="6880039" y="3722390"/>
            <a:ext cx="421596" cy="1170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E82992AE-934D-1B73-5E22-58A265FEEF31}"/>
              </a:ext>
            </a:extLst>
          </p:cNvPr>
          <p:cNvSpPr txBox="1"/>
          <p:nvPr/>
        </p:nvSpPr>
        <p:spPr>
          <a:xfrm>
            <a:off x="7284095" y="3345463"/>
            <a:ext cx="653404" cy="307777"/>
          </a:xfrm>
          <a:prstGeom prst="rect">
            <a:avLst/>
          </a:prstGeom>
          <a:noFill/>
        </p:spPr>
        <p:txBody>
          <a:bodyPr wrap="square" rtlCol="0">
            <a:spAutoFit/>
          </a:bodyPr>
          <a:lstStyle/>
          <a:p>
            <a:r>
              <a:rPr lang="en-US" sz="1400" dirty="0"/>
              <a:t>Lung</a:t>
            </a:r>
          </a:p>
        </p:txBody>
      </p:sp>
      <p:sp>
        <p:nvSpPr>
          <p:cNvPr id="19" name="TextBox 18">
            <a:extLst>
              <a:ext uri="{FF2B5EF4-FFF2-40B4-BE49-F238E27FC236}">
                <a16:creationId xmlns:a16="http://schemas.microsoft.com/office/drawing/2014/main" id="{FFDA6880-ECCA-598E-31E9-511D4FA4359B}"/>
              </a:ext>
            </a:extLst>
          </p:cNvPr>
          <p:cNvSpPr txBox="1"/>
          <p:nvPr/>
        </p:nvSpPr>
        <p:spPr>
          <a:xfrm>
            <a:off x="7301635" y="3685503"/>
            <a:ext cx="741044" cy="307777"/>
          </a:xfrm>
          <a:prstGeom prst="rect">
            <a:avLst/>
          </a:prstGeom>
          <a:noFill/>
        </p:spPr>
        <p:txBody>
          <a:bodyPr wrap="square" rtlCol="0">
            <a:spAutoFit/>
          </a:bodyPr>
          <a:lstStyle/>
          <a:p>
            <a:r>
              <a:rPr lang="en-US" sz="1400" dirty="0"/>
              <a:t>spleen</a:t>
            </a:r>
          </a:p>
        </p:txBody>
      </p:sp>
      <p:pic>
        <p:nvPicPr>
          <p:cNvPr id="23" name="Graphic 22" descr="Rat with solid fill">
            <a:extLst>
              <a:ext uri="{FF2B5EF4-FFF2-40B4-BE49-F238E27FC236}">
                <a16:creationId xmlns:a16="http://schemas.microsoft.com/office/drawing/2014/main" id="{D51F9CA3-7F05-A2A6-8DEB-4BD98689B8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53279" y="4196594"/>
            <a:ext cx="914400" cy="914400"/>
          </a:xfrm>
          <a:prstGeom prst="rect">
            <a:avLst/>
          </a:prstGeom>
        </p:spPr>
      </p:pic>
      <p:cxnSp>
        <p:nvCxnSpPr>
          <p:cNvPr id="24" name="Straight Connector 23">
            <a:extLst>
              <a:ext uri="{FF2B5EF4-FFF2-40B4-BE49-F238E27FC236}">
                <a16:creationId xmlns:a16="http://schemas.microsoft.com/office/drawing/2014/main" id="{7B8DEC1A-1C3F-2E98-2579-E7EFD9DBAA75}"/>
              </a:ext>
            </a:extLst>
          </p:cNvPr>
          <p:cNvCxnSpPr>
            <a:cxnSpLocks/>
            <a:stCxn id="26" idx="1"/>
            <a:endCxn id="23" idx="3"/>
          </p:cNvCxnSpPr>
          <p:nvPr/>
        </p:nvCxnSpPr>
        <p:spPr>
          <a:xfrm flipH="1">
            <a:off x="6967679" y="4430756"/>
            <a:ext cx="404056" cy="22303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B0D64D0-F9C2-E7C3-7BD4-35A70D6F7461}"/>
              </a:ext>
            </a:extLst>
          </p:cNvPr>
          <p:cNvCxnSpPr>
            <a:cxnSpLocks/>
            <a:stCxn id="27" idx="1"/>
            <a:endCxn id="23" idx="3"/>
          </p:cNvCxnSpPr>
          <p:nvPr/>
        </p:nvCxnSpPr>
        <p:spPr>
          <a:xfrm flipH="1" flipV="1">
            <a:off x="6967679" y="4653794"/>
            <a:ext cx="421596" cy="1170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1F131B6C-3D87-EEFE-585D-D8C9DE15A47B}"/>
              </a:ext>
            </a:extLst>
          </p:cNvPr>
          <p:cNvSpPr txBox="1"/>
          <p:nvPr/>
        </p:nvSpPr>
        <p:spPr>
          <a:xfrm>
            <a:off x="7371735" y="4276867"/>
            <a:ext cx="653404" cy="307777"/>
          </a:xfrm>
          <a:prstGeom prst="rect">
            <a:avLst/>
          </a:prstGeom>
          <a:noFill/>
        </p:spPr>
        <p:txBody>
          <a:bodyPr wrap="square" rtlCol="0">
            <a:spAutoFit/>
          </a:bodyPr>
          <a:lstStyle/>
          <a:p>
            <a:r>
              <a:rPr lang="en-US" sz="1400" dirty="0"/>
              <a:t>Lung</a:t>
            </a:r>
          </a:p>
        </p:txBody>
      </p:sp>
      <p:sp>
        <p:nvSpPr>
          <p:cNvPr id="27" name="TextBox 26">
            <a:extLst>
              <a:ext uri="{FF2B5EF4-FFF2-40B4-BE49-F238E27FC236}">
                <a16:creationId xmlns:a16="http://schemas.microsoft.com/office/drawing/2014/main" id="{D6A86D85-4423-D23F-D8EF-803C50516A86}"/>
              </a:ext>
            </a:extLst>
          </p:cNvPr>
          <p:cNvSpPr txBox="1"/>
          <p:nvPr/>
        </p:nvSpPr>
        <p:spPr>
          <a:xfrm>
            <a:off x="7389275" y="4616907"/>
            <a:ext cx="741044" cy="307777"/>
          </a:xfrm>
          <a:prstGeom prst="rect">
            <a:avLst/>
          </a:prstGeom>
          <a:noFill/>
        </p:spPr>
        <p:txBody>
          <a:bodyPr wrap="square" rtlCol="0">
            <a:spAutoFit/>
          </a:bodyPr>
          <a:lstStyle/>
          <a:p>
            <a:r>
              <a:rPr lang="en-US" sz="1400" dirty="0"/>
              <a:t>spleen</a:t>
            </a:r>
          </a:p>
        </p:txBody>
      </p:sp>
      <p:pic>
        <p:nvPicPr>
          <p:cNvPr id="28" name="Graphic 27" descr="Rat with solid fill">
            <a:extLst>
              <a:ext uri="{FF2B5EF4-FFF2-40B4-BE49-F238E27FC236}">
                <a16:creationId xmlns:a16="http://schemas.microsoft.com/office/drawing/2014/main" id="{A49D5DD3-FCDA-0066-7B45-F81D923055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90046" y="3300427"/>
            <a:ext cx="914400" cy="914400"/>
          </a:xfrm>
          <a:prstGeom prst="rect">
            <a:avLst/>
          </a:prstGeom>
        </p:spPr>
      </p:pic>
      <p:cxnSp>
        <p:nvCxnSpPr>
          <p:cNvPr id="29" name="Straight Connector 28">
            <a:extLst>
              <a:ext uri="{FF2B5EF4-FFF2-40B4-BE49-F238E27FC236}">
                <a16:creationId xmlns:a16="http://schemas.microsoft.com/office/drawing/2014/main" id="{08D6112D-4A6B-AF5F-2583-ADFF0444CA97}"/>
              </a:ext>
            </a:extLst>
          </p:cNvPr>
          <p:cNvCxnSpPr>
            <a:cxnSpLocks/>
            <a:stCxn id="31" idx="1"/>
            <a:endCxn id="28" idx="3"/>
          </p:cNvCxnSpPr>
          <p:nvPr/>
        </p:nvCxnSpPr>
        <p:spPr>
          <a:xfrm flipH="1">
            <a:off x="9704446" y="3534589"/>
            <a:ext cx="404056" cy="22303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8FFD500-4A14-6438-58DE-4FF3CD384DA6}"/>
              </a:ext>
            </a:extLst>
          </p:cNvPr>
          <p:cNvCxnSpPr>
            <a:cxnSpLocks/>
            <a:stCxn id="32" idx="1"/>
            <a:endCxn id="28" idx="3"/>
          </p:cNvCxnSpPr>
          <p:nvPr/>
        </p:nvCxnSpPr>
        <p:spPr>
          <a:xfrm flipH="1" flipV="1">
            <a:off x="9704446" y="3757627"/>
            <a:ext cx="421596" cy="1170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81479CA6-75F1-F184-E583-3A54B4B8547A}"/>
              </a:ext>
            </a:extLst>
          </p:cNvPr>
          <p:cNvSpPr txBox="1"/>
          <p:nvPr/>
        </p:nvSpPr>
        <p:spPr>
          <a:xfrm>
            <a:off x="10108502" y="3380700"/>
            <a:ext cx="653404" cy="307777"/>
          </a:xfrm>
          <a:prstGeom prst="rect">
            <a:avLst/>
          </a:prstGeom>
          <a:noFill/>
        </p:spPr>
        <p:txBody>
          <a:bodyPr wrap="square" rtlCol="0">
            <a:spAutoFit/>
          </a:bodyPr>
          <a:lstStyle/>
          <a:p>
            <a:r>
              <a:rPr lang="en-US" sz="1400" dirty="0"/>
              <a:t>Lung</a:t>
            </a:r>
          </a:p>
        </p:txBody>
      </p:sp>
      <p:sp>
        <p:nvSpPr>
          <p:cNvPr id="32" name="TextBox 31">
            <a:extLst>
              <a:ext uri="{FF2B5EF4-FFF2-40B4-BE49-F238E27FC236}">
                <a16:creationId xmlns:a16="http://schemas.microsoft.com/office/drawing/2014/main" id="{B8CAEF9F-35AC-94FA-11A6-6FB3170D140A}"/>
              </a:ext>
            </a:extLst>
          </p:cNvPr>
          <p:cNvSpPr txBox="1"/>
          <p:nvPr/>
        </p:nvSpPr>
        <p:spPr>
          <a:xfrm>
            <a:off x="10126042" y="3720740"/>
            <a:ext cx="741044" cy="307777"/>
          </a:xfrm>
          <a:prstGeom prst="rect">
            <a:avLst/>
          </a:prstGeom>
          <a:noFill/>
        </p:spPr>
        <p:txBody>
          <a:bodyPr wrap="square" rtlCol="0">
            <a:spAutoFit/>
          </a:bodyPr>
          <a:lstStyle/>
          <a:p>
            <a:r>
              <a:rPr lang="en-US" sz="1400" dirty="0"/>
              <a:t>spleen</a:t>
            </a:r>
          </a:p>
        </p:txBody>
      </p:sp>
      <p:pic>
        <p:nvPicPr>
          <p:cNvPr id="33" name="Graphic 32" descr="Rat with solid fill">
            <a:extLst>
              <a:ext uri="{FF2B5EF4-FFF2-40B4-BE49-F238E27FC236}">
                <a16:creationId xmlns:a16="http://schemas.microsoft.com/office/drawing/2014/main" id="{324AFBA6-7E78-A3C7-04C3-25CC1B8E44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58454" y="4283977"/>
            <a:ext cx="914400" cy="914400"/>
          </a:xfrm>
          <a:prstGeom prst="rect">
            <a:avLst/>
          </a:prstGeom>
        </p:spPr>
      </p:pic>
      <p:cxnSp>
        <p:nvCxnSpPr>
          <p:cNvPr id="34" name="Straight Connector 33">
            <a:extLst>
              <a:ext uri="{FF2B5EF4-FFF2-40B4-BE49-F238E27FC236}">
                <a16:creationId xmlns:a16="http://schemas.microsoft.com/office/drawing/2014/main" id="{DD0A0544-851F-FD5D-8421-78A9DD00D976}"/>
              </a:ext>
            </a:extLst>
          </p:cNvPr>
          <p:cNvCxnSpPr>
            <a:cxnSpLocks/>
            <a:stCxn id="36" idx="1"/>
            <a:endCxn id="33" idx="3"/>
          </p:cNvCxnSpPr>
          <p:nvPr/>
        </p:nvCxnSpPr>
        <p:spPr>
          <a:xfrm flipH="1">
            <a:off x="9772854" y="4518139"/>
            <a:ext cx="404056" cy="223038"/>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D8B727F-F56E-9A74-36DF-89C3980E590E}"/>
              </a:ext>
            </a:extLst>
          </p:cNvPr>
          <p:cNvCxnSpPr>
            <a:cxnSpLocks/>
            <a:stCxn id="37" idx="1"/>
            <a:endCxn id="33" idx="3"/>
          </p:cNvCxnSpPr>
          <p:nvPr/>
        </p:nvCxnSpPr>
        <p:spPr>
          <a:xfrm flipH="1" flipV="1">
            <a:off x="9772854" y="4741177"/>
            <a:ext cx="421596" cy="1170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188423BA-ED4E-B9AE-B900-A3068AF8BEF2}"/>
              </a:ext>
            </a:extLst>
          </p:cNvPr>
          <p:cNvSpPr txBox="1"/>
          <p:nvPr/>
        </p:nvSpPr>
        <p:spPr>
          <a:xfrm>
            <a:off x="10176910" y="4364250"/>
            <a:ext cx="653404" cy="307777"/>
          </a:xfrm>
          <a:prstGeom prst="rect">
            <a:avLst/>
          </a:prstGeom>
          <a:noFill/>
        </p:spPr>
        <p:txBody>
          <a:bodyPr wrap="square" rtlCol="0">
            <a:spAutoFit/>
          </a:bodyPr>
          <a:lstStyle/>
          <a:p>
            <a:r>
              <a:rPr lang="en-US" sz="1400" dirty="0"/>
              <a:t>Lung</a:t>
            </a:r>
          </a:p>
        </p:txBody>
      </p:sp>
      <p:sp>
        <p:nvSpPr>
          <p:cNvPr id="37" name="TextBox 36">
            <a:extLst>
              <a:ext uri="{FF2B5EF4-FFF2-40B4-BE49-F238E27FC236}">
                <a16:creationId xmlns:a16="http://schemas.microsoft.com/office/drawing/2014/main" id="{CCBFA44A-B76E-AE0B-3BA3-E7ED7031DDE3}"/>
              </a:ext>
            </a:extLst>
          </p:cNvPr>
          <p:cNvSpPr txBox="1"/>
          <p:nvPr/>
        </p:nvSpPr>
        <p:spPr>
          <a:xfrm>
            <a:off x="10194450" y="4704290"/>
            <a:ext cx="741044" cy="307777"/>
          </a:xfrm>
          <a:prstGeom prst="rect">
            <a:avLst/>
          </a:prstGeom>
          <a:noFill/>
        </p:spPr>
        <p:txBody>
          <a:bodyPr wrap="square" rtlCol="0">
            <a:spAutoFit/>
          </a:bodyPr>
          <a:lstStyle/>
          <a:p>
            <a:r>
              <a:rPr lang="en-US" sz="1400" dirty="0"/>
              <a:t>spleen</a:t>
            </a:r>
          </a:p>
        </p:txBody>
      </p:sp>
      <p:sp>
        <p:nvSpPr>
          <p:cNvPr id="38" name="Content Placeholder 37">
            <a:extLst>
              <a:ext uri="{FF2B5EF4-FFF2-40B4-BE49-F238E27FC236}">
                <a16:creationId xmlns:a16="http://schemas.microsoft.com/office/drawing/2014/main" id="{81599A7A-0E28-212D-4446-C2EE0293EDF6}"/>
              </a:ext>
            </a:extLst>
          </p:cNvPr>
          <p:cNvSpPr txBox="1">
            <a:spLocks noGrp="1"/>
          </p:cNvSpPr>
          <p:nvPr>
            <p:ph idx="1"/>
          </p:nvPr>
        </p:nvSpPr>
        <p:spPr>
          <a:xfrm>
            <a:off x="409575" y="1882775"/>
            <a:ext cx="5257800" cy="3931397"/>
          </a:xfrm>
          <a:prstGeom prst="rect">
            <a:avLst/>
          </a:prstGeom>
          <a:noFill/>
        </p:spPr>
        <p:txBody>
          <a:bodyPr wrap="square" rtlCol="0">
            <a:spAutoFit/>
          </a:bodyPr>
          <a:lstStyle/>
          <a:p>
            <a:r>
              <a:rPr lang="en-US" sz="2400" dirty="0"/>
              <a:t>Example 2 (#_x_y_z naming convention)</a:t>
            </a:r>
          </a:p>
          <a:p>
            <a:pPr marL="285750" indent="-285750">
              <a:buFontTx/>
              <a:buChar char="-"/>
            </a:pPr>
            <a:r>
              <a:rPr lang="en-US" sz="2400" dirty="0"/>
              <a:t>4 unique individuals</a:t>
            </a:r>
          </a:p>
          <a:p>
            <a:pPr marL="285750" indent="-285750">
              <a:buFontTx/>
              <a:buChar char="-"/>
            </a:pPr>
            <a:r>
              <a:rPr lang="en-US" sz="2400" dirty="0"/>
              <a:t>2 individual treatments</a:t>
            </a:r>
          </a:p>
          <a:p>
            <a:pPr marL="285750" indent="-285750">
              <a:buFontTx/>
              <a:buChar char="-"/>
            </a:pPr>
            <a:r>
              <a:rPr lang="en-US" sz="2400" dirty="0"/>
              <a:t>2 samples per individual (based on tissue for this example)</a:t>
            </a:r>
          </a:p>
          <a:p>
            <a:pPr marL="285750" indent="-285750">
              <a:buFontTx/>
              <a:buChar char="-"/>
            </a:pPr>
            <a:r>
              <a:rPr lang="en-US" sz="2400" dirty="0"/>
              <a:t>Names: 1_mock_lung, 1_mock_spleen, 2_mock_lung, 2_mock_spleen, 3_treatment_lung, 3_treatment_spleen… etc.</a:t>
            </a:r>
          </a:p>
        </p:txBody>
      </p:sp>
    </p:spTree>
    <p:extLst>
      <p:ext uri="{BB962C8B-B14F-4D97-AF65-F5344CB8AC3E}">
        <p14:creationId xmlns:p14="http://schemas.microsoft.com/office/powerpoint/2010/main" val="858257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C2A9C-895E-F57D-59FF-1C23477A0DEE}"/>
              </a:ext>
            </a:extLst>
          </p:cNvPr>
          <p:cNvSpPr>
            <a:spLocks noGrp="1"/>
          </p:cNvSpPr>
          <p:nvPr>
            <p:ph type="title"/>
          </p:nvPr>
        </p:nvSpPr>
        <p:spPr/>
        <p:txBody>
          <a:bodyPr/>
          <a:lstStyle/>
          <a:p>
            <a:r>
              <a:rPr lang="en-US" dirty="0"/>
              <a:t>Most important considerations for naming</a:t>
            </a:r>
          </a:p>
        </p:txBody>
      </p:sp>
      <p:sp>
        <p:nvSpPr>
          <p:cNvPr id="3" name="Content Placeholder 2">
            <a:extLst>
              <a:ext uri="{FF2B5EF4-FFF2-40B4-BE49-F238E27FC236}">
                <a16:creationId xmlns:a16="http://schemas.microsoft.com/office/drawing/2014/main" id="{BF537DE7-EEE5-F51F-B93B-38E83D751AE7}"/>
              </a:ext>
            </a:extLst>
          </p:cNvPr>
          <p:cNvSpPr>
            <a:spLocks noGrp="1"/>
          </p:cNvSpPr>
          <p:nvPr>
            <p:ph idx="1"/>
          </p:nvPr>
        </p:nvSpPr>
        <p:spPr/>
        <p:txBody>
          <a:bodyPr/>
          <a:lstStyle/>
          <a:p>
            <a:r>
              <a:rPr lang="en-US" dirty="0"/>
              <a:t>The unique number, Sample ID, should equal the number of plates, mouse, or other sampled “individuals”.</a:t>
            </a:r>
          </a:p>
          <a:p>
            <a:pPr lvl="1"/>
            <a:r>
              <a:rPr lang="en-US" dirty="0"/>
              <a:t>It identifies each individual and only applies to that individual </a:t>
            </a:r>
          </a:p>
        </p:txBody>
      </p:sp>
    </p:spTree>
    <p:extLst>
      <p:ext uri="{BB962C8B-B14F-4D97-AF65-F5344CB8AC3E}">
        <p14:creationId xmlns:p14="http://schemas.microsoft.com/office/powerpoint/2010/main" val="1390882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9EA6F-AC38-FA71-670E-976B89AB411B}"/>
              </a:ext>
            </a:extLst>
          </p:cNvPr>
          <p:cNvSpPr>
            <a:spLocks noGrp="1"/>
          </p:cNvSpPr>
          <p:nvPr>
            <p:ph type="ctrTitle"/>
          </p:nvPr>
        </p:nvSpPr>
        <p:spPr/>
        <p:txBody>
          <a:bodyPr/>
          <a:lstStyle/>
          <a:p>
            <a:r>
              <a:rPr lang="en-US" dirty="0"/>
              <a:t>Setting up the App</a:t>
            </a:r>
          </a:p>
        </p:txBody>
      </p:sp>
      <p:sp>
        <p:nvSpPr>
          <p:cNvPr id="3" name="Subtitle 2">
            <a:extLst>
              <a:ext uri="{FF2B5EF4-FFF2-40B4-BE49-F238E27FC236}">
                <a16:creationId xmlns:a16="http://schemas.microsoft.com/office/drawing/2014/main" id="{329F51BD-1C8B-3CE1-E236-E1EBE1A92A3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06115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32CED-D04A-C73A-5D1D-C4B2D901066D}"/>
              </a:ext>
            </a:extLst>
          </p:cNvPr>
          <p:cNvSpPr>
            <a:spLocks noGrp="1"/>
          </p:cNvSpPr>
          <p:nvPr>
            <p:ph type="title"/>
          </p:nvPr>
        </p:nvSpPr>
        <p:spPr/>
        <p:txBody>
          <a:bodyPr/>
          <a:lstStyle/>
          <a:p>
            <a:r>
              <a:rPr lang="en-US" dirty="0"/>
              <a:t>Install R and </a:t>
            </a:r>
            <a:r>
              <a:rPr lang="en-US" dirty="0" err="1"/>
              <a:t>Rstudio</a:t>
            </a:r>
            <a:endParaRPr lang="en-US" dirty="0"/>
          </a:p>
        </p:txBody>
      </p:sp>
      <p:sp>
        <p:nvSpPr>
          <p:cNvPr id="3" name="Content Placeholder 2">
            <a:extLst>
              <a:ext uri="{FF2B5EF4-FFF2-40B4-BE49-F238E27FC236}">
                <a16:creationId xmlns:a16="http://schemas.microsoft.com/office/drawing/2014/main" id="{5355893E-1DC3-4AA7-9B95-D0093A6E0C61}"/>
              </a:ext>
            </a:extLst>
          </p:cNvPr>
          <p:cNvSpPr>
            <a:spLocks noGrp="1"/>
          </p:cNvSpPr>
          <p:nvPr>
            <p:ph idx="1"/>
          </p:nvPr>
        </p:nvSpPr>
        <p:spPr/>
        <p:txBody>
          <a:bodyPr/>
          <a:lstStyle/>
          <a:p>
            <a:r>
              <a:rPr lang="en-US" dirty="0">
                <a:hlinkClick r:id="rId2"/>
              </a:rPr>
              <a:t>https://posit.co/download/rstudio-desktop/</a:t>
            </a:r>
            <a:endParaRPr lang="en-US" dirty="0"/>
          </a:p>
          <a:p>
            <a:r>
              <a:rPr lang="en-US" dirty="0"/>
              <a:t>Works on R version 4.5.x</a:t>
            </a:r>
          </a:p>
        </p:txBody>
      </p:sp>
    </p:spTree>
    <p:extLst>
      <p:ext uri="{BB962C8B-B14F-4D97-AF65-F5344CB8AC3E}">
        <p14:creationId xmlns:p14="http://schemas.microsoft.com/office/powerpoint/2010/main" val="964347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5F55-7516-A459-2B17-3F3337F5BA16}"/>
              </a:ext>
            </a:extLst>
          </p:cNvPr>
          <p:cNvSpPr>
            <a:spLocks noGrp="1"/>
          </p:cNvSpPr>
          <p:nvPr>
            <p:ph type="title"/>
          </p:nvPr>
        </p:nvSpPr>
        <p:spPr>
          <a:xfrm>
            <a:off x="726518" y="1659890"/>
            <a:ext cx="10515600" cy="1325563"/>
          </a:xfrm>
        </p:spPr>
        <p:txBody>
          <a:bodyPr/>
          <a:lstStyle/>
          <a:p>
            <a:r>
              <a:rPr lang="en-US" dirty="0"/>
              <a:t>https://github.com/mkendzel/Auto-qPCR</a:t>
            </a:r>
          </a:p>
        </p:txBody>
      </p:sp>
      <p:pic>
        <p:nvPicPr>
          <p:cNvPr id="5" name="Picture 4">
            <a:extLst>
              <a:ext uri="{FF2B5EF4-FFF2-40B4-BE49-F238E27FC236}">
                <a16:creationId xmlns:a16="http://schemas.microsoft.com/office/drawing/2014/main" id="{37FA4025-B5F6-AEDC-8F5D-2CA359FBA293}"/>
              </a:ext>
            </a:extLst>
          </p:cNvPr>
          <p:cNvPicPr>
            <a:picLocks noChangeAspect="1"/>
          </p:cNvPicPr>
          <p:nvPr/>
        </p:nvPicPr>
        <p:blipFill>
          <a:blip r:embed="rId2"/>
          <a:stretch>
            <a:fillRect/>
          </a:stretch>
        </p:blipFill>
        <p:spPr>
          <a:xfrm>
            <a:off x="212476" y="3160820"/>
            <a:ext cx="5962792" cy="3130029"/>
          </a:xfrm>
          <a:prstGeom prst="rect">
            <a:avLst/>
          </a:prstGeom>
        </p:spPr>
      </p:pic>
      <p:sp>
        <p:nvSpPr>
          <p:cNvPr id="6" name="Rectangle 5">
            <a:extLst>
              <a:ext uri="{FF2B5EF4-FFF2-40B4-BE49-F238E27FC236}">
                <a16:creationId xmlns:a16="http://schemas.microsoft.com/office/drawing/2014/main" id="{5DE38326-00B0-2440-15E4-18D68CC2F168}"/>
              </a:ext>
            </a:extLst>
          </p:cNvPr>
          <p:cNvSpPr/>
          <p:nvPr/>
        </p:nvSpPr>
        <p:spPr>
          <a:xfrm>
            <a:off x="5348650" y="3576910"/>
            <a:ext cx="826618" cy="408758"/>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descr="Cursor with solid fill">
            <a:extLst>
              <a:ext uri="{FF2B5EF4-FFF2-40B4-BE49-F238E27FC236}">
                <a16:creationId xmlns:a16="http://schemas.microsoft.com/office/drawing/2014/main" id="{F9E6465B-07A6-C449-D9DB-CE1D163057E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61959" y="3662725"/>
            <a:ext cx="914400" cy="914400"/>
          </a:xfrm>
          <a:prstGeom prst="rect">
            <a:avLst/>
          </a:prstGeom>
        </p:spPr>
      </p:pic>
      <p:pic>
        <p:nvPicPr>
          <p:cNvPr id="10" name="Picture 9">
            <a:extLst>
              <a:ext uri="{FF2B5EF4-FFF2-40B4-BE49-F238E27FC236}">
                <a16:creationId xmlns:a16="http://schemas.microsoft.com/office/drawing/2014/main" id="{09747AAA-184B-5027-0BC0-B1E1F39A4FD5}"/>
              </a:ext>
            </a:extLst>
          </p:cNvPr>
          <p:cNvPicPr>
            <a:picLocks noChangeAspect="1"/>
          </p:cNvPicPr>
          <p:nvPr/>
        </p:nvPicPr>
        <p:blipFill>
          <a:blip r:embed="rId5"/>
          <a:stretch>
            <a:fillRect/>
          </a:stretch>
        </p:blipFill>
        <p:spPr>
          <a:xfrm>
            <a:off x="6747509" y="3473289"/>
            <a:ext cx="3465375" cy="2505090"/>
          </a:xfrm>
          <a:prstGeom prst="rect">
            <a:avLst/>
          </a:prstGeom>
        </p:spPr>
      </p:pic>
      <p:sp>
        <p:nvSpPr>
          <p:cNvPr id="11" name="Rectangle 10">
            <a:extLst>
              <a:ext uri="{FF2B5EF4-FFF2-40B4-BE49-F238E27FC236}">
                <a16:creationId xmlns:a16="http://schemas.microsoft.com/office/drawing/2014/main" id="{A94C36D7-1398-2BB2-E39D-EE65206BDA17}"/>
              </a:ext>
            </a:extLst>
          </p:cNvPr>
          <p:cNvSpPr/>
          <p:nvPr/>
        </p:nvSpPr>
        <p:spPr>
          <a:xfrm>
            <a:off x="6747508" y="5646943"/>
            <a:ext cx="1489071" cy="331435"/>
          </a:xfrm>
          <a:prstGeom prst="rect">
            <a:avLst/>
          </a:prstGeom>
          <a:noFill/>
          <a:ln w="762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Graphic 11" descr="Cursor with solid fill">
            <a:extLst>
              <a:ext uri="{FF2B5EF4-FFF2-40B4-BE49-F238E27FC236}">
                <a16:creationId xmlns:a16="http://schemas.microsoft.com/office/drawing/2014/main" id="{CF1E49B4-F2D0-223A-CEB4-5E47E801EE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80337" y="5646943"/>
            <a:ext cx="914400" cy="914400"/>
          </a:xfrm>
          <a:prstGeom prst="rect">
            <a:avLst/>
          </a:prstGeom>
        </p:spPr>
      </p:pic>
      <p:sp>
        <p:nvSpPr>
          <p:cNvPr id="13" name="Title 1">
            <a:extLst>
              <a:ext uri="{FF2B5EF4-FFF2-40B4-BE49-F238E27FC236}">
                <a16:creationId xmlns:a16="http://schemas.microsoft.com/office/drawing/2014/main" id="{2D1E0072-42C1-6EAA-B32D-E56504B8F7F0}"/>
              </a:ext>
            </a:extLst>
          </p:cNvPr>
          <p:cNvSpPr txBox="1">
            <a:spLocks/>
          </p:cNvSpPr>
          <p:nvPr/>
        </p:nvSpPr>
        <p:spPr>
          <a:xfrm>
            <a:off x="726518" y="43400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Go to GitHub and download the app</a:t>
            </a:r>
          </a:p>
        </p:txBody>
      </p:sp>
    </p:spTree>
    <p:extLst>
      <p:ext uri="{BB962C8B-B14F-4D97-AF65-F5344CB8AC3E}">
        <p14:creationId xmlns:p14="http://schemas.microsoft.com/office/powerpoint/2010/main" val="3435808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3363C-53DF-6747-BB62-16371642E2E4}"/>
              </a:ext>
            </a:extLst>
          </p:cNvPr>
          <p:cNvSpPr>
            <a:spLocks noGrp="1"/>
          </p:cNvSpPr>
          <p:nvPr>
            <p:ph type="title"/>
          </p:nvPr>
        </p:nvSpPr>
        <p:spPr>
          <a:xfrm>
            <a:off x="179832" y="87147"/>
            <a:ext cx="10515600" cy="1325563"/>
          </a:xfrm>
        </p:spPr>
        <p:txBody>
          <a:bodyPr/>
          <a:lstStyle/>
          <a:p>
            <a:r>
              <a:rPr lang="en-US" dirty="0"/>
              <a:t>Launch the app from the folder</a:t>
            </a:r>
          </a:p>
        </p:txBody>
      </p:sp>
      <p:sp>
        <p:nvSpPr>
          <p:cNvPr id="3" name="Content Placeholder 2">
            <a:extLst>
              <a:ext uri="{FF2B5EF4-FFF2-40B4-BE49-F238E27FC236}">
                <a16:creationId xmlns:a16="http://schemas.microsoft.com/office/drawing/2014/main" id="{67C14B9E-F47E-A530-B86E-B7768F10877B}"/>
              </a:ext>
            </a:extLst>
          </p:cNvPr>
          <p:cNvSpPr>
            <a:spLocks noGrp="1"/>
          </p:cNvSpPr>
          <p:nvPr>
            <p:ph idx="1"/>
          </p:nvPr>
        </p:nvSpPr>
        <p:spPr>
          <a:xfrm>
            <a:off x="838201" y="1825625"/>
            <a:ext cx="5257800" cy="4351338"/>
          </a:xfrm>
        </p:spPr>
        <p:txBody>
          <a:bodyPr/>
          <a:lstStyle/>
          <a:p>
            <a:r>
              <a:rPr lang="en-US" dirty="0"/>
              <a:t>Extract the downloaded folder</a:t>
            </a:r>
          </a:p>
          <a:p>
            <a:r>
              <a:rPr lang="en-US" dirty="0"/>
              <a:t>Then open and click “Auto-qPCR”</a:t>
            </a:r>
          </a:p>
          <a:p>
            <a:pPr lvl="1"/>
            <a:r>
              <a:rPr lang="en-US" dirty="0"/>
              <a:t>A new </a:t>
            </a:r>
            <a:r>
              <a:rPr lang="en-US" dirty="0" err="1"/>
              <a:t>Rstudio</a:t>
            </a:r>
            <a:r>
              <a:rPr lang="en-US" dirty="0"/>
              <a:t> window will open up.</a:t>
            </a:r>
          </a:p>
          <a:p>
            <a:r>
              <a:rPr lang="en-US" dirty="0"/>
              <a:t>Click “</a:t>
            </a:r>
            <a:r>
              <a:rPr lang="en-US" dirty="0" err="1"/>
              <a:t>app.R</a:t>
            </a:r>
            <a:r>
              <a:rPr lang="en-US" dirty="0"/>
              <a:t>” in RStudio</a:t>
            </a:r>
          </a:p>
        </p:txBody>
      </p:sp>
      <p:pic>
        <p:nvPicPr>
          <p:cNvPr id="5" name="Picture 4">
            <a:extLst>
              <a:ext uri="{FF2B5EF4-FFF2-40B4-BE49-F238E27FC236}">
                <a16:creationId xmlns:a16="http://schemas.microsoft.com/office/drawing/2014/main" id="{2A0CC717-8FB9-6E3A-E17C-CF31C58A70E8}"/>
              </a:ext>
            </a:extLst>
          </p:cNvPr>
          <p:cNvPicPr>
            <a:picLocks noChangeAspect="1"/>
          </p:cNvPicPr>
          <p:nvPr/>
        </p:nvPicPr>
        <p:blipFill>
          <a:blip r:embed="rId2"/>
          <a:stretch>
            <a:fillRect/>
          </a:stretch>
        </p:blipFill>
        <p:spPr>
          <a:xfrm>
            <a:off x="7578547" y="268835"/>
            <a:ext cx="4272077" cy="2809036"/>
          </a:xfrm>
          <a:prstGeom prst="rect">
            <a:avLst/>
          </a:prstGeom>
        </p:spPr>
      </p:pic>
      <p:sp>
        <p:nvSpPr>
          <p:cNvPr id="6" name="Rectangle 5">
            <a:extLst>
              <a:ext uri="{FF2B5EF4-FFF2-40B4-BE49-F238E27FC236}">
                <a16:creationId xmlns:a16="http://schemas.microsoft.com/office/drawing/2014/main" id="{44D41E78-7BB3-0D59-E108-476AE2320CC5}"/>
              </a:ext>
            </a:extLst>
          </p:cNvPr>
          <p:cNvSpPr/>
          <p:nvPr/>
        </p:nvSpPr>
        <p:spPr>
          <a:xfrm>
            <a:off x="7607808" y="2106778"/>
            <a:ext cx="3745991" cy="248716"/>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632C4739-459A-02AD-A9D1-96C5DF9F9811}"/>
              </a:ext>
            </a:extLst>
          </p:cNvPr>
          <p:cNvPicPr>
            <a:picLocks noChangeAspect="1"/>
          </p:cNvPicPr>
          <p:nvPr/>
        </p:nvPicPr>
        <p:blipFill>
          <a:blip r:embed="rId3"/>
          <a:stretch>
            <a:fillRect/>
          </a:stretch>
        </p:blipFill>
        <p:spPr>
          <a:xfrm>
            <a:off x="5600409" y="3281701"/>
            <a:ext cx="6565997" cy="3489152"/>
          </a:xfrm>
          <a:prstGeom prst="rect">
            <a:avLst/>
          </a:prstGeom>
        </p:spPr>
      </p:pic>
      <p:sp>
        <p:nvSpPr>
          <p:cNvPr id="9" name="Rectangle 8">
            <a:extLst>
              <a:ext uri="{FF2B5EF4-FFF2-40B4-BE49-F238E27FC236}">
                <a16:creationId xmlns:a16="http://schemas.microsoft.com/office/drawing/2014/main" id="{EDE420D8-01B1-B885-8FEB-166E226C635C}"/>
              </a:ext>
            </a:extLst>
          </p:cNvPr>
          <p:cNvSpPr/>
          <p:nvPr/>
        </p:nvSpPr>
        <p:spPr>
          <a:xfrm>
            <a:off x="5734812" y="4448658"/>
            <a:ext cx="3745991" cy="123342"/>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Cursor with solid fill">
            <a:extLst>
              <a:ext uri="{FF2B5EF4-FFF2-40B4-BE49-F238E27FC236}">
                <a16:creationId xmlns:a16="http://schemas.microsoft.com/office/drawing/2014/main" id="{396F0724-0C49-0F31-53A4-FAAC8ADEF46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49474" y="2054936"/>
            <a:ext cx="914400" cy="914400"/>
          </a:xfrm>
          <a:prstGeom prst="rect">
            <a:avLst/>
          </a:prstGeom>
        </p:spPr>
      </p:pic>
      <p:pic>
        <p:nvPicPr>
          <p:cNvPr id="11" name="Graphic 10" descr="Cursor with solid fill">
            <a:extLst>
              <a:ext uri="{FF2B5EF4-FFF2-40B4-BE49-F238E27FC236}">
                <a16:creationId xmlns:a16="http://schemas.microsoft.com/office/drawing/2014/main" id="{5ADC2BA2-9C84-8131-8215-FFAE93CE45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53671" y="4313778"/>
            <a:ext cx="914400" cy="914400"/>
          </a:xfrm>
          <a:prstGeom prst="rect">
            <a:avLst/>
          </a:prstGeom>
        </p:spPr>
      </p:pic>
    </p:spTree>
    <p:extLst>
      <p:ext uri="{BB962C8B-B14F-4D97-AF65-F5344CB8AC3E}">
        <p14:creationId xmlns:p14="http://schemas.microsoft.com/office/powerpoint/2010/main" val="1400459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2DAE-C911-AF35-EB45-EABA319B2C11}"/>
              </a:ext>
            </a:extLst>
          </p:cNvPr>
          <p:cNvSpPr>
            <a:spLocks noGrp="1"/>
          </p:cNvSpPr>
          <p:nvPr>
            <p:ph type="title"/>
          </p:nvPr>
        </p:nvSpPr>
        <p:spPr>
          <a:xfrm>
            <a:off x="438912" y="-234721"/>
            <a:ext cx="11170920" cy="1325563"/>
          </a:xfrm>
        </p:spPr>
        <p:txBody>
          <a:bodyPr/>
          <a:lstStyle/>
          <a:p>
            <a:r>
              <a:rPr lang="en-US" dirty="0"/>
              <a:t>Your </a:t>
            </a:r>
            <a:r>
              <a:rPr lang="en-US" dirty="0" err="1"/>
              <a:t>Rstudio</a:t>
            </a:r>
            <a:r>
              <a:rPr lang="en-US" dirty="0"/>
              <a:t> will look similar. Now click Run app</a:t>
            </a:r>
          </a:p>
        </p:txBody>
      </p:sp>
      <p:pic>
        <p:nvPicPr>
          <p:cNvPr id="7" name="Picture 6">
            <a:extLst>
              <a:ext uri="{FF2B5EF4-FFF2-40B4-BE49-F238E27FC236}">
                <a16:creationId xmlns:a16="http://schemas.microsoft.com/office/drawing/2014/main" id="{CCBF09E8-BC48-30ED-D533-86970C74C347}"/>
              </a:ext>
            </a:extLst>
          </p:cNvPr>
          <p:cNvPicPr>
            <a:picLocks noChangeAspect="1"/>
          </p:cNvPicPr>
          <p:nvPr/>
        </p:nvPicPr>
        <p:blipFill>
          <a:blip r:embed="rId2"/>
          <a:stretch>
            <a:fillRect/>
          </a:stretch>
        </p:blipFill>
        <p:spPr>
          <a:xfrm>
            <a:off x="588264" y="892120"/>
            <a:ext cx="11021568" cy="5840268"/>
          </a:xfrm>
          <a:prstGeom prst="rect">
            <a:avLst/>
          </a:prstGeom>
        </p:spPr>
      </p:pic>
      <p:sp>
        <p:nvSpPr>
          <p:cNvPr id="8" name="Rectangle 7">
            <a:extLst>
              <a:ext uri="{FF2B5EF4-FFF2-40B4-BE49-F238E27FC236}">
                <a16:creationId xmlns:a16="http://schemas.microsoft.com/office/drawing/2014/main" id="{6CC310BD-C398-2A5A-50A7-4DF0A8CB4F75}"/>
              </a:ext>
            </a:extLst>
          </p:cNvPr>
          <p:cNvSpPr/>
          <p:nvPr/>
        </p:nvSpPr>
        <p:spPr>
          <a:xfrm>
            <a:off x="6276442" y="1550822"/>
            <a:ext cx="592532" cy="18288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Cursor with solid fill">
            <a:extLst>
              <a:ext uri="{FF2B5EF4-FFF2-40B4-BE49-F238E27FC236}">
                <a16:creationId xmlns:a16="http://schemas.microsoft.com/office/drawing/2014/main" id="{F74E419A-B416-139A-FC3C-5082D56A78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61126" y="1490111"/>
            <a:ext cx="914400" cy="914400"/>
          </a:xfrm>
          <a:prstGeom prst="rect">
            <a:avLst/>
          </a:prstGeom>
        </p:spPr>
      </p:pic>
    </p:spTree>
    <p:extLst>
      <p:ext uri="{BB962C8B-B14F-4D97-AF65-F5344CB8AC3E}">
        <p14:creationId xmlns:p14="http://schemas.microsoft.com/office/powerpoint/2010/main" val="2802635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82E0-CC65-8F38-15FA-23D39176DC7B}"/>
              </a:ext>
            </a:extLst>
          </p:cNvPr>
          <p:cNvSpPr>
            <a:spLocks noGrp="1"/>
          </p:cNvSpPr>
          <p:nvPr>
            <p:ph type="title"/>
          </p:nvPr>
        </p:nvSpPr>
        <p:spPr/>
        <p:txBody>
          <a:bodyPr/>
          <a:lstStyle/>
          <a:p>
            <a:r>
              <a:rPr lang="en-US" dirty="0"/>
              <a:t>Congratulations! You opened the app</a:t>
            </a:r>
          </a:p>
        </p:txBody>
      </p:sp>
      <p:pic>
        <p:nvPicPr>
          <p:cNvPr id="5" name="Picture 4">
            <a:extLst>
              <a:ext uri="{FF2B5EF4-FFF2-40B4-BE49-F238E27FC236}">
                <a16:creationId xmlns:a16="http://schemas.microsoft.com/office/drawing/2014/main" id="{3713B51F-B2C3-F1D0-BEE3-B53EAC5DA827}"/>
              </a:ext>
            </a:extLst>
          </p:cNvPr>
          <p:cNvPicPr>
            <a:picLocks noChangeAspect="1"/>
          </p:cNvPicPr>
          <p:nvPr/>
        </p:nvPicPr>
        <p:blipFill>
          <a:blip r:embed="rId2"/>
          <a:stretch>
            <a:fillRect/>
          </a:stretch>
        </p:blipFill>
        <p:spPr>
          <a:xfrm>
            <a:off x="4389120" y="1385466"/>
            <a:ext cx="6577135" cy="5392065"/>
          </a:xfrm>
          <a:prstGeom prst="rect">
            <a:avLst/>
          </a:prstGeom>
        </p:spPr>
      </p:pic>
      <p:sp>
        <p:nvSpPr>
          <p:cNvPr id="6" name="Title 1">
            <a:extLst>
              <a:ext uri="{FF2B5EF4-FFF2-40B4-BE49-F238E27FC236}">
                <a16:creationId xmlns:a16="http://schemas.microsoft.com/office/drawing/2014/main" id="{BCE2D985-667A-A58F-2401-773C678BA4DC}"/>
              </a:ext>
            </a:extLst>
          </p:cNvPr>
          <p:cNvSpPr txBox="1">
            <a:spLocks/>
          </p:cNvSpPr>
          <p:nvPr/>
        </p:nvSpPr>
        <p:spPr>
          <a:xfrm>
            <a:off x="559003" y="2163445"/>
            <a:ext cx="3596030" cy="3988638"/>
          </a:xfrm>
          <a:prstGeom prst="rect">
            <a:avLst/>
          </a:prstGeom>
        </p:spPr>
        <p:txBody>
          <a:bodyPr vert="horz" lIns="91440" tIns="45720" rIns="91440" bIns="45720" rtlCol="0" anchor="ctr">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Launching the app for the first time may take some time. It is installing important packages for it to work. This should only happen the first time the app is opened. </a:t>
            </a:r>
          </a:p>
        </p:txBody>
      </p:sp>
    </p:spTree>
    <p:extLst>
      <p:ext uri="{BB962C8B-B14F-4D97-AF65-F5344CB8AC3E}">
        <p14:creationId xmlns:p14="http://schemas.microsoft.com/office/powerpoint/2010/main" val="566642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411</Words>
  <Application>Microsoft Office PowerPoint</Application>
  <PresentationFormat>Widescreen</PresentationFormat>
  <Paragraphs>66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Auto-qPCR</vt:lpstr>
      <vt:lpstr>Raw PCR machine readings</vt:lpstr>
      <vt:lpstr>Sample Name &amp; Target Name Variables</vt:lpstr>
      <vt:lpstr>Naming Example 1</vt:lpstr>
      <vt:lpstr>Naming Example 2</vt:lpstr>
      <vt:lpstr>Most important considerations for naming</vt:lpstr>
      <vt:lpstr>Setting up the App</vt:lpstr>
      <vt:lpstr>Install R and Rstudio</vt:lpstr>
      <vt:lpstr>https://github.com/mkendzel/Auto-qPCR</vt:lpstr>
      <vt:lpstr>Launch the app from the folder</vt:lpstr>
      <vt:lpstr>Your Rstudio will look similar. Now click Run app</vt:lpstr>
      <vt:lpstr>Congratulations! You opened the app</vt:lpstr>
    </vt:vector>
  </TitlesOfParts>
  <Company>Emory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Kendzel, Mitchell</dc:creator>
  <cp:lastModifiedBy>Kendzel, Mitchell</cp:lastModifiedBy>
  <cp:revision>3</cp:revision>
  <dcterms:created xsi:type="dcterms:W3CDTF">2026-01-20T16:26:38Z</dcterms:created>
  <dcterms:modified xsi:type="dcterms:W3CDTF">2026-01-20T19:12:25Z</dcterms:modified>
</cp:coreProperties>
</file>